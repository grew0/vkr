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310" r:id="rId5"/>
    <p:sldId id="313" r:id="rId6"/>
    <p:sldId id="314" r:id="rId7"/>
    <p:sldId id="290" r:id="rId8"/>
    <p:sldId id="311" r:id="rId9"/>
    <p:sldId id="312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09" r:id="rId19"/>
    <p:sldId id="30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2F3"/>
    <a:srgbClr val="B6C8E8"/>
    <a:srgbClr val="F7F9FD"/>
    <a:srgbClr val="F2F5FC"/>
    <a:srgbClr val="FCFDFE"/>
    <a:srgbClr val="D0DBF0"/>
    <a:srgbClr val="E2E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710" autoAdjust="0"/>
  </p:normalViewPr>
  <p:slideViewPr>
    <p:cSldViewPr snapToGrid="0">
      <p:cViewPr>
        <p:scale>
          <a:sx n="75" d="100"/>
          <a:sy n="75" d="100"/>
        </p:scale>
        <p:origin x="946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12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85D95-26AF-45EF-89BA-AA01C99EE669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4C241-64FB-4E29-9656-25A01F9E99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41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C14601-DEB1-AC69-CB8C-3F9480616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775E53-30BA-E23C-798C-CCC91FF09E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6C5380-3372-3912-CC2C-1BF44A26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31ECF2-AAC6-9C7A-4314-5650FBAC0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BD30E8-B62E-0285-91E6-F93BBA56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116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7404C-1B7A-CB6B-F40D-FF581CCE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C40406-5204-D4EC-8DC2-3AE36108E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8ED079-0621-0649-1040-C3DE700CA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D050BE-D2EA-6517-853C-150C9197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9F7B18-C039-C88D-4816-E5A9BA9E4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39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8E19F0-FA88-7DB3-34FE-46588A5B1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41E8F2-C0B3-81B1-F89A-8AF6CACC0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07784D-69A7-B028-6306-A925FDF2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C669A5-5FD7-6709-AAC0-F3DF7AC4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38ED2E-64CD-C69C-3B67-C1A9F1FA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2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490DB8-F8B7-533C-1D2D-C580EE22A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B328C8-A592-FC3B-6F87-2430541F0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5D06C3-C996-CF2B-BE44-E5B0BE8B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337155-7E31-3F1D-DA3E-496CB70AA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C2CDA1-5475-BDB5-6F18-3AB1C6A34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1A480-6182-5726-A28C-3C6D1DFD5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03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9D7B83-A81B-53F2-F4AE-E3A24CE82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27380E-938E-B14D-E5B0-5E4F45FCF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7F3F7BF-B9AF-A7F9-140C-17F872854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ED7D07-34EE-52DB-1037-AC584BAD5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78F27D-2671-8333-AF5B-D8C20AC54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7535254-1343-1E82-4C5D-C10297444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AD6BDE-C8AA-B57A-856B-4D8046F9B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48F5289-FBD8-B465-8AF8-A6458705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43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2FEB41-3A2B-F228-6E1D-3BF316A0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014EB3E-195C-3B01-DD2E-7C06258AA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4F869E-A521-D0FD-F6A6-6876662F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B48A216-538C-C562-0814-BFD6541A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02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4E413D-62D8-49B3-1FE3-805A4CA5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BB33428-D7FB-A9FA-2958-91AF861C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B0CCE43-6ACC-AA0E-C99A-81C1C41F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481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32906-BC96-88A0-E69A-4BB67040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76494F-D317-4012-0B5C-92FEBFF85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E1D276-F237-E76E-DBD0-75BF84C7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A57645-7256-C1A0-8EF2-AA52C2461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D61F17-B05E-61F5-47EE-29E81C5A0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3BDB2C5-BF93-8C55-0D6A-9A06D4EE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9220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89B66-1046-8118-4E2E-AABC9E5DB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8AE6E88-091C-937F-390C-B917B9F729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C0AFE7-2914-6A6A-5911-A554B65530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17D3C8-ED70-78E8-9D36-306B3EEA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9E1632-1421-C77F-1FB9-F900F831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4D922E3-A842-188C-7223-94FC947A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98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333C1-A42B-0422-D603-A8F23BF22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DF05E65-CC20-04E8-1654-920067223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042260-1845-01DE-BB10-77E79827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60AC22-D1A0-6440-1445-2E29A9117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E41D0C-B59C-B10C-7C8D-7941C3BB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910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816642-BC71-C8F8-7B18-6D3EBA139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A501D8-0735-9F69-48DF-1BD03AB7E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2657CB-29F8-0AB5-AF3A-CD1A141D4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C29D04-31E9-4125-F72B-2C4644C67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740FE4-731C-C95F-BD1C-D754192ED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445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C80EA-7AB6-E9BE-F781-2B4F518E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33AA0C-683A-C76E-302D-02F07A049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C64801-81F7-114A-0D33-FE327946F3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A0EA9-59F2-4417-AFB8-2301137FB4F4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0C976-8117-FF8F-FB6F-52C84DFD74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675470-9350-31F0-59C0-868787EED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9FBCED-B236-4378-977B-44C501D0DB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24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>
            <a:extLst>
              <a:ext uri="{FF2B5EF4-FFF2-40B4-BE49-F238E27FC236}">
                <a16:creationId xmlns:a16="http://schemas.microsoft.com/office/drawing/2014/main" id="{DFF85660-D28E-42CC-F78D-C3CCC49E8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ED2049-CEA5-08FD-1E8B-94362C5C52BC}"/>
              </a:ext>
            </a:extLst>
          </p:cNvPr>
          <p:cNvSpPr txBox="1"/>
          <p:nvPr/>
        </p:nvSpPr>
        <p:spPr>
          <a:xfrm>
            <a:off x="696000" y="1602570"/>
            <a:ext cx="10800000" cy="3019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9000"/>
              </a:lnSpc>
              <a:spcAft>
                <a:spcPts val="15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«МИРЭА – Российский технологический университет»</a:t>
            </a:r>
            <a:endParaRPr lang="en-US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r>
              <a:rPr lang="ru-RU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РТУ МИРЭА</a:t>
            </a: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r>
              <a:rPr lang="ru-RU" sz="14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Институт информационных технологий</a:t>
            </a: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r>
              <a:rPr lang="ru-RU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Кафедра игровой индустрии</a:t>
            </a: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endParaRPr lang="ru-RU" sz="14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Проектная практика</a:t>
            </a:r>
            <a:endParaRPr lang="ru-RU" sz="24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415"/>
              </a:spcAft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По теме «приложение для визуализации и анализа управляемой кучи и метаданных сборщика мусора для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ArkTS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Sta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VM»</a:t>
            </a:r>
            <a:endParaRPr lang="ru-RU" dirty="0"/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3213F47D-56FA-F246-49D0-D09CE6D2D341}"/>
              </a:ext>
            </a:extLst>
          </p:cNvPr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35943" y="584665"/>
            <a:ext cx="920115" cy="10179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243796-F28B-92AA-29C6-79D1BAC4B705}"/>
              </a:ext>
            </a:extLst>
          </p:cNvPr>
          <p:cNvSpPr txBox="1"/>
          <p:nvPr/>
        </p:nvSpPr>
        <p:spPr>
          <a:xfrm>
            <a:off x="696001" y="5066977"/>
            <a:ext cx="57773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Чикунов Д.С.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 ИКБО-03-22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к.т.н., доцент Алпатов А.Н.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38A4AE-55D7-37B3-7864-9961ECB087BA}"/>
              </a:ext>
            </a:extLst>
          </p:cNvPr>
          <p:cNvSpPr txBox="1"/>
          <p:nvPr/>
        </p:nvSpPr>
        <p:spPr>
          <a:xfrm>
            <a:off x="5355771" y="6200109"/>
            <a:ext cx="1480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 2026</a:t>
            </a:r>
          </a:p>
        </p:txBody>
      </p:sp>
    </p:spTree>
    <p:extLst>
      <p:ext uri="{BB962C8B-B14F-4D97-AF65-F5344CB8AC3E}">
        <p14:creationId xmlns:p14="http://schemas.microsoft.com/office/powerpoint/2010/main" val="2475536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5370B3-B77B-CC2D-0E46-0DEF3313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505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B58AF6-CF0F-4A07-66D4-5E238C081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20" y="1553378"/>
            <a:ext cx="11437961" cy="503849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ru-RU" sz="3200" dirty="0"/>
              <a:t>Цель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ru-RU" dirty="0"/>
              <a:t>разработка функциональной, концептуальной и логической моделей приложения для анализа и визуализации управляемой кучи, а также метаданных сборщика мусора для виртуальной машины </a:t>
            </a:r>
            <a:r>
              <a:rPr lang="en-US" dirty="0" err="1"/>
              <a:t>ArkTS</a:t>
            </a:r>
            <a:r>
              <a:rPr lang="en-US" dirty="0"/>
              <a:t> Sta VM </a:t>
            </a:r>
            <a:r>
              <a:rPr lang="ru-RU" dirty="0"/>
              <a:t>со сборщиком мусора </a:t>
            </a:r>
            <a:r>
              <a:rPr lang="en-US" dirty="0"/>
              <a:t>G</a:t>
            </a:r>
            <a:r>
              <a:rPr lang="ru-RU" dirty="0"/>
              <a:t>1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ru-RU" sz="3200" dirty="0"/>
              <a:t>Задачи</a:t>
            </a:r>
          </a:p>
          <a:p>
            <a:pPr lvl="0"/>
            <a:r>
              <a:rPr lang="ru-RU" dirty="0"/>
              <a:t>исследование литературы на тему работы;</a:t>
            </a:r>
          </a:p>
          <a:p>
            <a:pPr lvl="0"/>
            <a:r>
              <a:rPr lang="ru-RU" dirty="0"/>
              <a:t>исследование аналогов и их функционала; </a:t>
            </a:r>
          </a:p>
          <a:p>
            <a:pPr lvl="0"/>
            <a:r>
              <a:rPr lang="ru-RU" dirty="0"/>
              <a:t>разработка функциональных и нефункциональных требований;</a:t>
            </a:r>
          </a:p>
          <a:p>
            <a:pPr lvl="0"/>
            <a:r>
              <a:rPr lang="ru-RU" dirty="0"/>
              <a:t>разработка функциональной модели приложения;</a:t>
            </a:r>
          </a:p>
          <a:p>
            <a:pPr lvl="0"/>
            <a:r>
              <a:rPr lang="ru-RU" dirty="0"/>
              <a:t>разработка концептуальной модели приложения;</a:t>
            </a:r>
          </a:p>
          <a:p>
            <a:r>
              <a:rPr lang="ru-RU" dirty="0"/>
              <a:t>разработка логической модели приложения.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9719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0BA23A-1365-6D81-84B6-7A0AAA09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321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/>
              <a:t>Анализ предметной области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E54EF5-F484-0FCE-0032-842D0F864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4884"/>
            <a:ext cx="10515600" cy="2862018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buNone/>
            </a:pPr>
            <a:r>
              <a:rPr lang="ru-RU" dirty="0"/>
              <a:t>Разбор аналогов</a:t>
            </a:r>
            <a:endParaRPr lang="en-US" dirty="0"/>
          </a:p>
          <a:p>
            <a:pPr marL="0" indent="0" algn="ctr">
              <a:lnSpc>
                <a:spcPct val="100000"/>
              </a:lnSpc>
              <a:buNone/>
            </a:pPr>
            <a:endParaRPr lang="ru-RU" dirty="0"/>
          </a:p>
          <a:p>
            <a:pPr>
              <a:lnSpc>
                <a:spcPct val="100000"/>
              </a:lnSpc>
            </a:pPr>
            <a:r>
              <a:rPr lang="en-US" dirty="0"/>
              <a:t>Heap Hero</a:t>
            </a:r>
          </a:p>
          <a:p>
            <a:pPr>
              <a:lnSpc>
                <a:spcPct val="100000"/>
              </a:lnSpc>
            </a:pPr>
            <a:r>
              <a:rPr lang="en-US" dirty="0"/>
              <a:t>Visual VM</a:t>
            </a:r>
          </a:p>
          <a:p>
            <a:pPr>
              <a:lnSpc>
                <a:spcPct val="100000"/>
              </a:lnSpc>
            </a:pPr>
            <a:r>
              <a:rPr lang="en-US" dirty="0"/>
              <a:t>Gummy Cat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0564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AF07-C4D5-08EA-51E4-55323E724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697490-FE58-828A-3B71-786D14BEB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321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/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0D3F7-8A43-D369-9528-CD06BC7FE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915" y="1252781"/>
            <a:ext cx="10515600" cy="286201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dirty="0"/>
              <a:t>Требования к загрузке и обработке данных:</a:t>
            </a:r>
          </a:p>
          <a:p>
            <a:pPr lvl="0"/>
            <a:r>
              <a:rPr lang="ru-RU" sz="1800" dirty="0"/>
              <a:t>система должна поддерживать загрузку дампов кучи, сгенерированных виртуальной машиной </a:t>
            </a:r>
            <a:r>
              <a:rPr lang="ru-RU" sz="1800" dirty="0" err="1"/>
              <a:t>ArkTS</a:t>
            </a:r>
            <a:r>
              <a:rPr lang="ru-RU" sz="1800" dirty="0"/>
              <a:t> </a:t>
            </a:r>
            <a:r>
              <a:rPr lang="ru-RU" sz="1800" dirty="0" err="1"/>
              <a:t>Sta</a:t>
            </a:r>
            <a:r>
              <a:rPr lang="ru-RU" sz="1800" dirty="0"/>
              <a:t> VM в ходе выполнения программы;</a:t>
            </a:r>
          </a:p>
          <a:p>
            <a:pPr lvl="0"/>
            <a:r>
              <a:rPr lang="ru-RU" sz="1800" dirty="0"/>
              <a:t>система должна брать файл дампа кучи из файловой системы по пути, указанному пользователем;</a:t>
            </a:r>
          </a:p>
          <a:p>
            <a:pPr lvl="0"/>
            <a:r>
              <a:rPr lang="ru-RU" sz="1800" dirty="0"/>
              <a:t>система должна осуществлять обработку содержания файла для дальнейшей визуализации.</a:t>
            </a:r>
          </a:p>
          <a:p>
            <a:pPr marL="0" indent="0">
              <a:buNone/>
            </a:pPr>
            <a:r>
              <a:rPr lang="ru-RU" sz="1800" dirty="0"/>
              <a:t>Требования к визуализации данных дампа:</a:t>
            </a:r>
          </a:p>
          <a:p>
            <a:pPr lvl="0"/>
            <a:r>
              <a:rPr lang="ru-RU" sz="1800" dirty="0"/>
              <a:t>система должна отображать заполненность регионов;</a:t>
            </a:r>
          </a:p>
          <a:p>
            <a:pPr lvl="0"/>
            <a:r>
              <a:rPr lang="ru-RU" sz="1800" dirty="0"/>
              <a:t>система должна отображать тип регионов;</a:t>
            </a:r>
          </a:p>
          <a:p>
            <a:pPr lvl="0"/>
            <a:r>
              <a:rPr lang="ru-RU" sz="1800" dirty="0"/>
              <a:t>система должна отображать дерево объектов с возможностью перемещения по нему;</a:t>
            </a:r>
          </a:p>
          <a:p>
            <a:pPr lvl="0"/>
            <a:r>
              <a:rPr lang="ru-RU" sz="1800" dirty="0"/>
              <a:t>система должна отображать GC метаданные (плотность записей в регионы памяти, кросс-</a:t>
            </a:r>
            <a:r>
              <a:rPr lang="ru-RU" sz="1800" dirty="0" err="1"/>
              <a:t>регионных</a:t>
            </a:r>
            <a:r>
              <a:rPr lang="ru-RU" sz="1800" dirty="0"/>
              <a:t> ссылок).</a:t>
            </a:r>
          </a:p>
          <a:p>
            <a:pPr marL="0" indent="0">
              <a:buNone/>
            </a:pPr>
            <a:r>
              <a:rPr lang="ru-RU" sz="1800" dirty="0"/>
              <a:t>Требования к статистике объектов</a:t>
            </a:r>
            <a:r>
              <a:rPr lang="en-US" sz="1800" dirty="0"/>
              <a:t>:</a:t>
            </a:r>
            <a:endParaRPr lang="ru-RU" sz="1800" dirty="0"/>
          </a:p>
          <a:p>
            <a:pPr lvl="0"/>
            <a:r>
              <a:rPr lang="ru-RU" sz="1800" dirty="0"/>
              <a:t>система должна отображать топ самых "тяжелых" объектов;</a:t>
            </a:r>
          </a:p>
          <a:p>
            <a:pPr lvl="0"/>
            <a:r>
              <a:rPr lang="ru-RU" sz="1800" dirty="0"/>
              <a:t>система должна отображать топ классов по количеству экземпляров;</a:t>
            </a:r>
          </a:p>
          <a:p>
            <a:pPr marL="0" indent="0">
              <a:buNone/>
            </a:pPr>
            <a:r>
              <a:rPr lang="ru-RU" sz="1800" dirty="0"/>
              <a:t>Система должно отображать топ классов по суммарному объему занимаемой памяти.</a:t>
            </a:r>
          </a:p>
        </p:txBody>
      </p:sp>
    </p:spTree>
    <p:extLst>
      <p:ext uri="{BB962C8B-B14F-4D97-AF65-F5344CB8AC3E}">
        <p14:creationId xmlns:p14="http://schemas.microsoft.com/office/powerpoint/2010/main" val="334373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946FE-F0C2-F4D0-DF66-B30814A56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8EA2A-6DA7-B205-9AD6-C5150968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321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/>
              <a:t>Выбор технологий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C44E6A5-6802-DCC6-B3F4-1D35F36D3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1640"/>
            <a:ext cx="7924573" cy="277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8F778F7-6B5F-A064-17DF-917EDCA0B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968535"/>
              </p:ext>
            </p:extLst>
          </p:nvPr>
        </p:nvGraphicFramePr>
        <p:xfrm>
          <a:off x="2250124" y="4307840"/>
          <a:ext cx="1842350" cy="20218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35065" imgH="3111977" progId="">
                  <p:embed/>
                </p:oleObj>
              </mc:Choice>
              <mc:Fallback>
                <p:oleObj r:id="rId3" imgW="2835065" imgH="3111977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50124" y="4307840"/>
                        <a:ext cx="1842350" cy="20218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4B87B3D0-ED18-621A-9631-C30F96F71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951" y="4118517"/>
            <a:ext cx="2577284" cy="256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CC4BDB72-B710-3C9C-180D-FBDD807E6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261" y="2318195"/>
            <a:ext cx="1643566" cy="164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07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909E0-DC2B-8CA9-80C9-A259238B1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4F472-E150-F691-EA50-9D67419BC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321"/>
            <a:ext cx="10515600" cy="1325563"/>
          </a:xfrm>
        </p:spPr>
        <p:txBody>
          <a:bodyPr>
            <a:normAutofit/>
          </a:bodyPr>
          <a:lstStyle/>
          <a:p>
            <a:r>
              <a:rPr lang="ru-RU" sz="5000" dirty="0"/>
              <a:t>Выбор технологий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A4602B-3A69-9F19-5CB6-73D457FE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947" y="1226275"/>
            <a:ext cx="10238105" cy="542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49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2C76-D08A-6E52-99B8-E37C64F30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2909F-76E3-0C8D-CDE9-2ADCF6BFE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Концептуальная модель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A286E9-514D-DFEA-2B2C-ADCDCE7EE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69" y="2114549"/>
            <a:ext cx="11692245" cy="18783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4189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77BD-F488-0B53-C4C5-4A2F76B3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1FAC3-75D6-6EE6-8113-1EF23BF3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Концептуальная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19692F-0F50-1BC2-37BD-55883774B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29" y="1383030"/>
            <a:ext cx="11974663" cy="52640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824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DA175-8128-F626-6FD7-EB27466D6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CD049B-2FAB-0CA3-4517-85BA5DBF7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Концептуальная модель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405287-C58D-0901-0A26-9A93E1377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" y="830232"/>
            <a:ext cx="11818620" cy="60785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804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EC6F1-9712-9575-1E8F-B712168E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43AAD-EB8B-113F-91F1-123A71E3E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Функциональная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12B2E8-2222-609F-C756-56FB7902A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861553"/>
            <a:ext cx="9243060" cy="57855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979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A690B-08C9-F2B7-B0AB-E9610D46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682E4-A407-5838-9CDE-06D591B1B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Функциональная модель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48ADF85-6CD0-DFF8-5331-4AB9D87E9F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6560" y="726660"/>
            <a:ext cx="8829040" cy="6114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293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DBB8-DBC2-749C-8002-B65C4952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486C2-D1E4-65B0-DB79-2B5F4500E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Функциональная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5426A63-57BE-1BCD-D15F-665B47BB1B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960" y="592980"/>
            <a:ext cx="9022080" cy="62477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2712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88FC0-6D5A-9045-FF84-1B7904F9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41D4C-2C7C-9B1A-B5B4-5F234354C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Функциональная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38044EF-55D3-2437-9AB1-32ABCC64DC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666050"/>
            <a:ext cx="8940800" cy="6191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2045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DE059-EF33-ADDC-5C6C-2A0A62706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05BC7F-FA03-DA99-009C-99C1FCE24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Функциональная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9E3305-C0E0-FA12-0FF4-24C3E42902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666218"/>
            <a:ext cx="8940800" cy="61917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7488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07791-92CB-6901-0F1B-56A3B7C94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35B2C-00E7-D4AD-753B-57AF9EAE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Функциональная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C13734-F894-DED9-0FF0-44EBA1D8A0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5" y="680685"/>
            <a:ext cx="8896350" cy="61600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0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2FFD3-4182-F7D1-260C-7D4CB5D2A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2541E1-F444-45D6-DF45-B7136399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Логическая модель 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08F21A-11D4-C85D-0FCB-B7BA19D79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4180"/>
            <a:ext cx="3028501" cy="38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D1E5EC-8B8F-02CE-5B7D-88E9634473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763" y="853440"/>
            <a:ext cx="9219238" cy="60045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2928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0A8EC-E970-F5FE-2AF7-5005069E3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42BC1-562F-6F95-EF78-C95770A28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23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Логическая модель 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2D396E2-54A0-F070-B938-CEF4669A1C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738" y="743890"/>
            <a:ext cx="10564524" cy="6114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2781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DB360-88BA-C1AD-9801-7AE26130B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5C198-D147-9B17-22AA-CD0290801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890"/>
            <a:ext cx="10515600" cy="726660"/>
          </a:xfrm>
        </p:spPr>
        <p:txBody>
          <a:bodyPr>
            <a:normAutofit/>
          </a:bodyPr>
          <a:lstStyle/>
          <a:p>
            <a:r>
              <a:rPr lang="ru-RU" sz="3200" dirty="0"/>
              <a:t>План разработки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7FCD30-4BB3-0774-FE2D-C1AE8E520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20" y="857250"/>
            <a:ext cx="69342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51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17E3-0311-F832-394A-838E4E3BF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D7F0FC-3019-67D3-EC58-7C54D7AD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4642"/>
            <a:ext cx="10515600" cy="726660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7585355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320</Words>
  <Application>Microsoft Office PowerPoint</Application>
  <PresentationFormat>Широкоэкранный</PresentationFormat>
  <Paragraphs>57</Paragraphs>
  <Slides>19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0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Введение</vt:lpstr>
      <vt:lpstr>Анализ предметной области</vt:lpstr>
      <vt:lpstr>Функциональные требования</vt:lpstr>
      <vt:lpstr>Выбор технологий</vt:lpstr>
      <vt:lpstr>Выбор технологий</vt:lpstr>
      <vt:lpstr>Концептуальная модель системы</vt:lpstr>
      <vt:lpstr>Концептуальная модель системы</vt:lpstr>
      <vt:lpstr>Концептуальная модель системы</vt:lpstr>
      <vt:lpstr>Функциональная модель системы</vt:lpstr>
      <vt:lpstr>Функциональная модель системы</vt:lpstr>
      <vt:lpstr>Функциональная модель системы</vt:lpstr>
      <vt:lpstr>Функциональная модель системы</vt:lpstr>
      <vt:lpstr>Функциональная модель системы</vt:lpstr>
      <vt:lpstr>Функциональная модель системы</vt:lpstr>
      <vt:lpstr>Логическая модель системы</vt:lpstr>
      <vt:lpstr>Логическая модель системы</vt:lpstr>
      <vt:lpstr>План разработки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Смирнов</dc:creator>
  <cp:lastModifiedBy>cf gh</cp:lastModifiedBy>
  <cp:revision>94</cp:revision>
  <dcterms:created xsi:type="dcterms:W3CDTF">2024-12-04T09:40:56Z</dcterms:created>
  <dcterms:modified xsi:type="dcterms:W3CDTF">2026-03-14T17:52:41Z</dcterms:modified>
</cp:coreProperties>
</file>